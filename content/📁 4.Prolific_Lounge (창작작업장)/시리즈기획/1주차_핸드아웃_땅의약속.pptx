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54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땅에서 때로, 때에서 뜻으로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defRPr sz="4800" b="1">
                <a:solidFill>
                  <a:srgbClr val="654321"/>
                </a:solidFill>
              </a:defRPr>
            </a:pPr>
            <a:r>
              <a:t>제1주</a:t>
            </a:r>
          </a:p>
          <a:p>
            <a:r>
              <a:t>땅의 약속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8B5A2B"/>
                </a:solidFill>
              </a:defRPr>
            </a:pPr>
            <a:r>
              <a:t>"선물로 받은 터전"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족장시대 → 출애굽 → 가나안 정착 (BC 2000-1200년경)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5029200"/>
            <a:ext cx="6400800" cy="914400"/>
          </a:xfrm>
          <a:prstGeom prst="rect">
            <a:avLst/>
          </a:prstGeom>
          <a:solidFill>
            <a:srgbClr val="FFF8DC"/>
          </a:solidFill>
          <a:ln w="25400">
            <a:solidFill>
              <a:srgbClr val="6543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82880"/>
          <a:lstStyle/>
          <a:p>
            <a:pPr algn="ctr">
              <a:defRPr sz="1200" b="1">
                <a:solidFill>
                  <a:srgbClr val="654321"/>
                </a:solidFill>
              </a:defRPr>
            </a:pPr>
            <a:r>
              <a:t>핵심 질문</a:t>
            </a:r>
          </a:p>
          <a:p>
            <a:pPr algn="ctr">
              <a:defRPr sz="1800" b="1">
                <a:solidFill>
                  <a:srgbClr val="654321"/>
                </a:solidFill>
              </a:defRPr>
            </a:pPr>
          </a:p>
          <a:p>
            <a:pPr algn="ctr">
              <a:defRPr sz="1800" b="1">
                <a:solidFill>
                  <a:srgbClr val="654321"/>
                </a:solidFill>
              </a:defRPr>
            </a:pPr>
            <a:r>
              <a:t>"하나님은 왜 특정한 땅을 약속하셨는가?"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400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787878"/>
                </a:solidFill>
              </a:defRPr>
            </a:pPr>
            <a:r>
              <a:t>선린교회 헤아림 목장 | 한민석 목사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654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핵심 개념: 땅은 '선물'이다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 b="1">
                <a:solidFill>
                  <a:srgbClr val="654321"/>
                </a:solidFill>
              </a:defRPr>
            </a:pPr>
            <a:r>
              <a:t>1. 아브라함 - 땅없음에서 시작하는 새 역사</a:t>
            </a:r>
          </a:p>
          <a:p>
            <a:pPr>
              <a:spcAft>
                <a:spcPts val="600"/>
              </a:spcAft>
              <a:defRPr sz="1100" i="1"/>
            </a:pPr>
            <a:r>
              <a:t>📖 창세기 12:1-3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000"/>
            </a:pPr>
            <a:r>
              <a:t>"여호와께서 아브람에게 이르시되 너는 네 고향과 친척과 아버지의 집을 떠나 내가 네게 보여 줄 땅으로 가라 내가 너로 큰 민족을 이루고 네게 복을 주어 네 이름을 창대하게 하리니 너는 복이 될지라"</a:t>
            </a:r>
          </a:p>
          <a:p>
            <a:pPr>
              <a:lnSpc>
                <a:spcPct val="140000"/>
              </a:lnSpc>
              <a:defRPr sz="1000"/>
            </a:pPr>
            <a:r>
              <a:t>▪ 갈대아 우르 → 하란 → 가나안: 세 번의 이동</a:t>
            </a:r>
            <a:br/>
            <a:r>
              <a:t>▪ 땅없는 자에게 주어지는 땅의 약속</a:t>
            </a:r>
            <a:br/>
            <a:r>
              <a:t>▪ 제단을 쌓은 장소들: 세겜, 벧엘, 헤브론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solidFill>
            <a:srgbClr val="FFF8DC"/>
          </a:solidFill>
          <a:ln w="12700">
            <a:solidFill>
              <a:srgbClr val="6543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spcAft>
                <a:spcPts val="600"/>
              </a:spcAft>
              <a:defRPr sz="1000" b="1">
                <a:solidFill>
                  <a:srgbClr val="654321"/>
                </a:solidFill>
              </a:defRPr>
            </a:pPr>
            <a:r>
              <a:t>💬 브루그만의 통찰</a:t>
            </a:r>
          </a:p>
          <a:p>
            <a:pPr>
              <a:lnSpc>
                <a:spcPct val="130000"/>
              </a:lnSpc>
              <a:defRPr sz="900" i="1"/>
            </a:pPr>
            <a:r>
              <a:t>"아브라함과 그 가족은 땅을 소유하지 않은 상태에서 땅을 향하여 나가고 있으며, 땅에 대한 확실한 기대 속에 살고 있다. 새로운 역사는 놀라운 약속과 의롭다고 인정받는 신뢰하는 용기의 특이한 행동에서 시작된다."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54321"/>
                </a:solidFill>
              </a:defRPr>
            </a:pPr>
            <a:r>
              <a:t>2. 땅은 선물이다 - 인간의 업적이 아닌 하나님의 은혜</a:t>
            </a:r>
          </a:p>
          <a:p>
            <a:pPr>
              <a:spcAft>
                <a:spcPts val="600"/>
              </a:spcAft>
              <a:defRPr sz="1100" i="1"/>
            </a:pPr>
            <a:r>
              <a:t>📖 신명기 6:10-11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100" b="1"/>
            </a:pPr>
            <a:r>
              <a:t>네가 세우지 아니한 성읍</a:t>
            </a:r>
            <a:br/>
            <a:r>
              <a:t>네가 채우지 아니한 집</a:t>
            </a:r>
            <a:br/>
            <a:r>
              <a:t>네가 파지 아니한 우물</a:t>
            </a:r>
            <a:br/>
            <a:r>
              <a:t>네가 심지 아니한 포도원</a:t>
            </a:r>
          </a:p>
          <a:p>
            <a:pPr>
              <a:spcAft>
                <a:spcPts val="1000"/>
              </a:spcAft>
              <a:defRPr sz="1100">
                <a:solidFill>
                  <a:srgbClr val="8B0000"/>
                </a:solidFill>
              </a:defRPr>
            </a:pPr>
            <a:r>
              <a:t>→ 땅은 인간의 업적이 아닌 하나님의 순전한 선물!</a:t>
            </a:r>
          </a:p>
          <a:p>
            <a:pPr>
              <a:lnSpc>
                <a:spcPct val="130000"/>
              </a:lnSpc>
              <a:defRPr sz="900" i="1"/>
            </a:pPr>
            <a:r>
              <a:t>💬 브루그만: "이스라엘은 힘이나 책략으로 땅을 얻은 것이 아니며, 말씀하시고 말씀하신 것을 이루기 위하여 행하신 여호와로 인하여 그것을 거저 가지게 된 것이다."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654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강의 노트 - 함께 채워봅시다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654321"/>
                </a:solidFill>
              </a:defRPr>
            </a:pPr>
            <a:r>
              <a:t>3. 땅의 조건성 - 순종이 필요하다</a:t>
            </a:r>
          </a:p>
          <a:p>
            <a:pPr lvl="1">
              <a:spcAft>
                <a:spcPts val="1000"/>
              </a:spcAft>
              <a:defRPr sz="1100"/>
            </a:pPr>
            <a:r>
              <a:t>땅은 하나님의 것이며, 우리는 _________________ 입니다. (레 25:23)</a:t>
            </a:r>
          </a:p>
          <a:p>
            <a:pPr lvl="1">
              <a:spcAft>
                <a:spcPts val="1000"/>
              </a:spcAft>
              <a:defRPr sz="1100"/>
            </a:pPr>
            <a:r>
              <a:t>신명기 28장: 순종하면 _________, 불순종하면 _________</a:t>
            </a:r>
          </a:p>
          <a:p>
            <a:pPr>
              <a:lnSpc>
                <a:spcPct val="130000"/>
              </a:lnSpc>
              <a:spcAft>
                <a:spcPts val="1600"/>
              </a:spcAft>
              <a:defRPr sz="900" i="1"/>
            </a:pPr>
            <a:r>
              <a:t>💬 브루그만: "땅은 아직도 순종을 요구하며, 순종이 없이는 성전이나 군대, 아내들이나 지혜 같은 어떤 보장도 땅을 지킬 수 없다."</a:t>
            </a:r>
          </a:p>
          <a:p>
            <a:pPr>
              <a:spcAft>
                <a:spcPts val="1200"/>
              </a:spcAft>
              <a:defRPr sz="1400" b="1">
                <a:solidFill>
                  <a:srgbClr val="654321"/>
                </a:solidFill>
              </a:defRPr>
            </a:pPr>
            <a:r>
              <a:t>관리되는 땅 vs 선물로 받은 땅</a:t>
            </a:r>
          </a:p>
          <a:p>
            <a:pPr>
              <a:spcAft>
                <a:spcPts val="600"/>
              </a:spcAft>
              <a:defRPr sz="1100" b="1"/>
            </a:pPr>
            <a:r>
              <a:t>• 관리되는 땅 (Managed Land):</a:t>
            </a:r>
          </a:p>
          <a:p>
            <a:pPr lvl="1">
              <a:spcAft>
                <a:spcPts val="1000"/>
              </a:spcAft>
              <a:defRPr sz="1000"/>
            </a:pPr>
            <a:r>
              <a:t>  통제, 소유, _________ → 결과: 광야화, 생명 상실</a:t>
            </a:r>
          </a:p>
          <a:p>
            <a:pPr>
              <a:spcAft>
                <a:spcPts val="600"/>
              </a:spcAft>
              <a:defRPr sz="1100" b="1"/>
            </a:pPr>
            <a:r>
              <a:t>• 선물로 받은 땅 (Gifted Land):</a:t>
            </a:r>
          </a:p>
          <a:p>
            <a:pPr lvl="1">
              <a:spcAft>
                <a:spcPts val="1600"/>
              </a:spcAft>
              <a:defRPr sz="1000"/>
            </a:pPr>
            <a:r>
              <a:t>  감사, _________________, 나눔 → 결과: 생명, 안식</a:t>
            </a:r>
          </a:p>
          <a:p>
            <a:pPr>
              <a:spcAft>
                <a:spcPts val="1200"/>
              </a:spcAft>
              <a:defRPr sz="1400" b="1">
                <a:solidFill>
                  <a:srgbClr val="654321"/>
                </a:solidFill>
              </a:defRPr>
            </a:pPr>
            <a:r>
              <a:t>오늘의 핵심 메시지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60320"/>
            <a:ext cx="82296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389120"/>
            <a:ext cx="82296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029200"/>
            <a:ext cx="8229600" cy="1188720"/>
          </a:xfrm>
          <a:prstGeom prst="rect">
            <a:avLst/>
          </a:prstGeom>
          <a:solidFill>
            <a:srgbClr val="FFF8DC"/>
          </a:solidFill>
          <a:ln w="25400">
            <a:solidFill>
              <a:srgbClr val="6543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wrap="square"/>
          <a:lstStyle/>
          <a:p>
            <a:pPr algn="ctr">
              <a:lnSpc>
                <a:spcPct val="150000"/>
              </a:lnSpc>
              <a:defRPr sz="1300" b="1"/>
            </a:pPr>
            <a:r>
              <a:t>땅은 ________________로 주신 것입니다.</a:t>
            </a:r>
            <a:br/>
            <a:br/>
            <a:r>
              <a:t>우리는 ________________이 아니라 ________________입니다.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654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함께 나누기 &amp; 적용하기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654321"/>
                </a:solidFill>
              </a:defRPr>
            </a:pPr>
            <a:r>
              <a:t>💬 토론 질문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000"/>
            </a:pPr>
            <a:r>
              <a:t>1. 나에게 '약속의 땅'은 무엇인가요? 하나님이 나를 부르신 구체적 삶의 자리는 어디인가요?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000"/>
            </a:pPr>
            <a:r>
              <a:t>2. 내가 '선물로 받았지만 마치 내 업적처럼 여기는 것'은 무엇인가요?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000"/>
            </a:pPr>
            <a:r>
              <a:t>3. '관리되는 땅'처럼 통제하려는 태도가 내 삶에 있다면 무엇인가요?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383280"/>
            <a:ext cx="82296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654321"/>
                </a:solidFill>
              </a:defRPr>
            </a:pPr>
            <a:r>
              <a:t>🌱 이번 주 적용</a:t>
            </a:r>
          </a:p>
          <a:p>
            <a:pPr>
              <a:spcAft>
                <a:spcPts val="800"/>
              </a:spcAft>
              <a:defRPr sz="1000"/>
            </a:pPr>
            <a:r>
              <a:t>• 매일 아침: '오늘 하루도 하나님의 선물입니다' 고백하기</a:t>
            </a:r>
          </a:p>
          <a:p>
            <a:pPr>
              <a:spcAft>
                <a:spcPts val="800"/>
              </a:spcAft>
              <a:defRPr sz="1000"/>
            </a:pPr>
            <a:r>
              <a:t>• 저녁 묵상: 오늘 받은 선물 3가지 감사하기 (신명기 8:10-14)</a:t>
            </a:r>
          </a:p>
          <a:p>
            <a:pPr>
              <a:defRPr sz="1000"/>
            </a:pPr>
            <a:r>
              <a:t>• 이번 주 실천: 내가 '관리'하려던 것을 하나님께 맡기기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029200"/>
            <a:ext cx="8229600" cy="1645920"/>
          </a:xfrm>
          <a:prstGeom prst="rect">
            <a:avLst/>
          </a:prstGeom>
          <a:solidFill>
            <a:srgbClr val="FAFAFA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spcAft>
                <a:spcPts val="12000"/>
              </a:spcAft>
              <a:defRPr sz="1100" b="1">
                <a:solidFill>
                  <a:srgbClr val="787878"/>
                </a:solidFill>
              </a:defRPr>
            </a:pPr>
            <a:r>
              <a:t>📝 나의 메모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7665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646464"/>
                </a:solidFill>
              </a:defRPr>
            </a:pPr>
            <a:r>
              <a:t>📅 다음 주: 제2주 '땅의 완성과 한계 - 성전, 축복인가 우상인가'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